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41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2520" y="685800"/>
            <a:ext cx="2377440" cy="2377440"/>
          </a:xfrm>
          <a:prstGeom prst="rect">
            <a:avLst/>
          </a:prstGeom>
          <a:solidFill>
            <a:srgbClr val="186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29800" y="2011680"/>
            <a:ext cx="1508760" cy="1508760"/>
          </a:xfrm>
          <a:prstGeom prst="rect">
            <a:avLst/>
          </a:prstGeom>
          <a:solidFill>
            <a:srgbClr val="D7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83879" y="3383280"/>
            <a:ext cx="2194560" cy="2194560"/>
          </a:xfrm>
          <a:prstGeom prst="rect">
            <a:avLst/>
          </a:prstGeom>
          <a:solidFill>
            <a:srgbClr val="23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841248"/>
            <a:ext cx="67665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300" b="1" i="0">
                <a:solidFill>
                  <a:srgbClr val="D7A44B"/>
                </a:solidFill>
                <a:latin typeface="Aptos"/>
              </a:rPr>
              <a:t>FILOSOFIA • SOCIOLOGIA • POLÍTICA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417320"/>
            <a:ext cx="6858000" cy="2057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Aptos"/>
              </a:rPr>
              <a:t>KARL
MARX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49039"/>
            <a:ext cx="667512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2300" b="0" i="0">
                <a:solidFill>
                  <a:srgbClr val="EBF5F3"/>
                </a:solidFill>
                <a:latin typeface="Aptos"/>
              </a:rPr>
              <a:t>Vida, teorias e influência na sociedade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97880"/>
            <a:ext cx="73152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300" b="0" i="0">
                <a:solidFill>
                  <a:srgbClr val="FFFFFF"/>
                </a:solidFill>
                <a:latin typeface="Aptos"/>
              </a:rPr>
              <a:t>Daniel Pinheiro Souza  |  SENAI Jacob Lafer  |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7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7772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900" b="1" i="0">
                <a:solidFill>
                  <a:srgbClr val="EBF5F3"/>
                </a:solidFill>
                <a:latin typeface="Aptos"/>
              </a:rPr>
              <a:t>KARL MARX  •  FILOSOFIA E SOCIEDADE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419088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EBF5F3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7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7772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900" b="1" i="0">
                <a:solidFill>
                  <a:srgbClr val="186868"/>
                </a:solidFill>
                <a:latin typeface="Aptos"/>
              </a:rPr>
              <a:t>KARL MARX  •  FILOSOFIA E SOCIEDADE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19088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186868"/>
                </a:solidFill>
                <a:latin typeface="Apto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9875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100" b="1" i="0">
                <a:solidFill>
                  <a:srgbClr val="186868"/>
                </a:solidFill>
                <a:latin typeface="Aptos"/>
              </a:rPr>
              <a:t>01 • APRESENTAÇÃO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68680"/>
            <a:ext cx="1078992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3000" b="1" i="0">
                <a:solidFill>
                  <a:srgbClr val="0F4144"/>
                </a:solidFill>
                <a:latin typeface="Aptos"/>
              </a:rPr>
              <a:t>Quem foi Karl Marx?</a:t>
            </a:r>
          </a:p>
        </p:txBody>
      </p:sp>
      <p:sp>
        <p:nvSpPr>
          <p:cNvPr id="7" name="Oval 6"/>
          <p:cNvSpPr/>
          <p:nvPr/>
        </p:nvSpPr>
        <p:spPr>
          <a:xfrm>
            <a:off x="786384" y="1856231"/>
            <a:ext cx="146304" cy="146304"/>
          </a:xfrm>
          <a:prstGeom prst="ellipse">
            <a:avLst/>
          </a:prstGeom>
          <a:solidFill>
            <a:srgbClr val="D7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1783080"/>
            <a:ext cx="99669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900" b="0" i="0">
                <a:solidFill>
                  <a:srgbClr val="223033"/>
                </a:solidFill>
                <a:latin typeface="Aptos"/>
              </a:rPr>
              <a:t>Filósofo, economista, jornalista e pensador político alemão.</a:t>
            </a:r>
          </a:p>
        </p:txBody>
      </p:sp>
      <p:sp>
        <p:nvSpPr>
          <p:cNvPr id="9" name="Oval 8"/>
          <p:cNvSpPr/>
          <p:nvPr/>
        </p:nvSpPr>
        <p:spPr>
          <a:xfrm>
            <a:off x="786384" y="2788920"/>
            <a:ext cx="146304" cy="146304"/>
          </a:xfrm>
          <a:prstGeom prst="ellipse">
            <a:avLst/>
          </a:prstGeom>
          <a:solidFill>
            <a:srgbClr val="D7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2715768"/>
            <a:ext cx="99669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900" b="0" i="0">
                <a:solidFill>
                  <a:srgbClr val="223033"/>
                </a:solidFill>
                <a:latin typeface="Aptos"/>
              </a:rPr>
              <a:t>Nasceu em 5 de maio de 1818, em Tréveris, na antiga Prússia.</a:t>
            </a:r>
          </a:p>
        </p:txBody>
      </p:sp>
      <p:sp>
        <p:nvSpPr>
          <p:cNvPr id="11" name="Oval 10"/>
          <p:cNvSpPr/>
          <p:nvPr/>
        </p:nvSpPr>
        <p:spPr>
          <a:xfrm>
            <a:off x="786384" y="3721607"/>
            <a:ext cx="146304" cy="146304"/>
          </a:xfrm>
          <a:prstGeom prst="ellipse">
            <a:avLst/>
          </a:prstGeom>
          <a:solidFill>
            <a:srgbClr val="D7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3648456"/>
            <a:ext cx="99669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900" b="0" i="0">
                <a:solidFill>
                  <a:srgbClr val="223033"/>
                </a:solidFill>
                <a:latin typeface="Aptos"/>
              </a:rPr>
              <a:t>Morreu em 14 de março de 1883, em Londres.</a:t>
            </a:r>
          </a:p>
        </p:txBody>
      </p:sp>
      <p:sp>
        <p:nvSpPr>
          <p:cNvPr id="13" name="Oval 12"/>
          <p:cNvSpPr/>
          <p:nvPr/>
        </p:nvSpPr>
        <p:spPr>
          <a:xfrm>
            <a:off x="786384" y="4654296"/>
            <a:ext cx="146304" cy="146304"/>
          </a:xfrm>
          <a:prstGeom prst="ellipse">
            <a:avLst/>
          </a:prstGeom>
          <a:solidFill>
            <a:srgbClr val="D7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4581144"/>
            <a:ext cx="99669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900" b="0" i="0">
                <a:solidFill>
                  <a:srgbClr val="223033"/>
                </a:solidFill>
                <a:latin typeface="Aptos"/>
              </a:rPr>
              <a:t>Analisou o capitalismo, as classes sociais e as desigualdades econômicas.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7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7772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900" b="1" i="0">
                <a:solidFill>
                  <a:srgbClr val="186868"/>
                </a:solidFill>
                <a:latin typeface="Aptos"/>
              </a:rPr>
              <a:t>KARL MARX  •  FILOSOFIA E SOCIEDADE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19088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186868"/>
                </a:solidFill>
                <a:latin typeface="Apto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9875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100" b="1" i="0">
                <a:solidFill>
                  <a:srgbClr val="186868"/>
                </a:solidFill>
                <a:latin typeface="Aptos"/>
              </a:rPr>
              <a:t>02 • BIOGRAFIA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68680"/>
            <a:ext cx="1078992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3000" b="1" i="0">
                <a:solidFill>
                  <a:srgbClr val="0F4144"/>
                </a:solidFill>
                <a:latin typeface="Aptos"/>
              </a:rPr>
              <a:t>Formação e trajetória</a:t>
            </a:r>
          </a:p>
        </p:txBody>
      </p:sp>
      <p:sp>
        <p:nvSpPr>
          <p:cNvPr id="7" name="Oval 6"/>
          <p:cNvSpPr/>
          <p:nvPr/>
        </p:nvSpPr>
        <p:spPr>
          <a:xfrm>
            <a:off x="786384" y="1856231"/>
            <a:ext cx="146304" cy="146304"/>
          </a:xfrm>
          <a:prstGeom prst="ellipse">
            <a:avLst/>
          </a:prstGeom>
          <a:solidFill>
            <a:srgbClr val="D7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1783080"/>
            <a:ext cx="99669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900" b="0" i="0">
                <a:solidFill>
                  <a:srgbClr val="223033"/>
                </a:solidFill>
                <a:latin typeface="Aptos"/>
              </a:rPr>
              <a:t>Estudou Direito nas universidades de Bonn e Berlim e se interessou por Filosofia e História.</a:t>
            </a:r>
          </a:p>
        </p:txBody>
      </p:sp>
      <p:sp>
        <p:nvSpPr>
          <p:cNvPr id="9" name="Oval 8"/>
          <p:cNvSpPr/>
          <p:nvPr/>
        </p:nvSpPr>
        <p:spPr>
          <a:xfrm>
            <a:off x="786384" y="2788920"/>
            <a:ext cx="146304" cy="146304"/>
          </a:xfrm>
          <a:prstGeom prst="ellipse">
            <a:avLst/>
          </a:prstGeom>
          <a:solidFill>
            <a:srgbClr val="D7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2715768"/>
            <a:ext cx="99669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900" b="0" i="0">
                <a:solidFill>
                  <a:srgbClr val="223033"/>
                </a:solidFill>
                <a:latin typeface="Aptos"/>
              </a:rPr>
              <a:t>Foi influenciado pelo pensamento de Hegel, mas desenvolveu suas próprias interpretações.</a:t>
            </a:r>
          </a:p>
        </p:txBody>
      </p:sp>
      <p:sp>
        <p:nvSpPr>
          <p:cNvPr id="11" name="Oval 10"/>
          <p:cNvSpPr/>
          <p:nvPr/>
        </p:nvSpPr>
        <p:spPr>
          <a:xfrm>
            <a:off x="786384" y="3721607"/>
            <a:ext cx="146304" cy="146304"/>
          </a:xfrm>
          <a:prstGeom prst="ellipse">
            <a:avLst/>
          </a:prstGeom>
          <a:solidFill>
            <a:srgbClr val="D7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3648456"/>
            <a:ext cx="99669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900" b="0" i="0">
                <a:solidFill>
                  <a:srgbClr val="223033"/>
                </a:solidFill>
                <a:latin typeface="Aptos"/>
              </a:rPr>
              <a:t>Trabalhou como jornalista e viveu em diferentes cidades devido a conflitos políticos.</a:t>
            </a:r>
          </a:p>
        </p:txBody>
      </p:sp>
      <p:sp>
        <p:nvSpPr>
          <p:cNvPr id="13" name="Oval 12"/>
          <p:cNvSpPr/>
          <p:nvPr/>
        </p:nvSpPr>
        <p:spPr>
          <a:xfrm>
            <a:off x="786384" y="4654296"/>
            <a:ext cx="146304" cy="146304"/>
          </a:xfrm>
          <a:prstGeom prst="ellipse">
            <a:avLst/>
          </a:prstGeom>
          <a:solidFill>
            <a:srgbClr val="D7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4581144"/>
            <a:ext cx="99669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900" b="0" i="0">
                <a:solidFill>
                  <a:srgbClr val="223033"/>
                </a:solidFill>
                <a:latin typeface="Aptos"/>
              </a:rPr>
              <a:t>Sua colaboração intelectual com Friedrich Engels foi essencial para suas obras.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7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7772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900" b="1" i="0">
                <a:solidFill>
                  <a:srgbClr val="186868"/>
                </a:solidFill>
                <a:latin typeface="Aptos"/>
              </a:rPr>
              <a:t>KARL MARX  •  FILOSOFIA E SOCIEDADE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19088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186868"/>
                </a:solidFill>
                <a:latin typeface="Apto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9875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100" b="1" i="0">
                <a:solidFill>
                  <a:srgbClr val="186868"/>
                </a:solidFill>
                <a:latin typeface="Aptos"/>
              </a:rPr>
              <a:t>03 • SÉCULO XIX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68680"/>
            <a:ext cx="1078992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3000" b="1" i="0">
                <a:solidFill>
                  <a:srgbClr val="0F4144"/>
                </a:solidFill>
                <a:latin typeface="Aptos"/>
              </a:rPr>
              <a:t>O contexto histórico</a:t>
            </a:r>
          </a:p>
        </p:txBody>
      </p:sp>
      <p:sp>
        <p:nvSpPr>
          <p:cNvPr id="7" name="Oval 6"/>
          <p:cNvSpPr/>
          <p:nvPr/>
        </p:nvSpPr>
        <p:spPr>
          <a:xfrm>
            <a:off x="786384" y="1856231"/>
            <a:ext cx="146304" cy="146304"/>
          </a:xfrm>
          <a:prstGeom prst="ellipse">
            <a:avLst/>
          </a:prstGeom>
          <a:solidFill>
            <a:srgbClr val="D7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1783080"/>
            <a:ext cx="99669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900" b="0" i="0">
                <a:solidFill>
                  <a:srgbClr val="223033"/>
                </a:solidFill>
                <a:latin typeface="Aptos"/>
              </a:rPr>
              <a:t>A Revolução Industrial ampliou o uso de máquinas e o crescimento das fábricas.</a:t>
            </a:r>
          </a:p>
        </p:txBody>
      </p:sp>
      <p:sp>
        <p:nvSpPr>
          <p:cNvPr id="9" name="Oval 8"/>
          <p:cNvSpPr/>
          <p:nvPr/>
        </p:nvSpPr>
        <p:spPr>
          <a:xfrm>
            <a:off x="786384" y="2788920"/>
            <a:ext cx="146304" cy="146304"/>
          </a:xfrm>
          <a:prstGeom prst="ellipse">
            <a:avLst/>
          </a:prstGeom>
          <a:solidFill>
            <a:srgbClr val="D7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2715768"/>
            <a:ext cx="99669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900" b="0" i="0">
                <a:solidFill>
                  <a:srgbClr val="223033"/>
                </a:solidFill>
                <a:latin typeface="Aptos"/>
              </a:rPr>
              <a:t>Muitos trabalhadores enfrentavam jornadas longas, baixos salários e condições precárias.</a:t>
            </a:r>
          </a:p>
        </p:txBody>
      </p:sp>
      <p:sp>
        <p:nvSpPr>
          <p:cNvPr id="11" name="Oval 10"/>
          <p:cNvSpPr/>
          <p:nvPr/>
        </p:nvSpPr>
        <p:spPr>
          <a:xfrm>
            <a:off x="786384" y="3721607"/>
            <a:ext cx="146304" cy="146304"/>
          </a:xfrm>
          <a:prstGeom prst="ellipse">
            <a:avLst/>
          </a:prstGeom>
          <a:solidFill>
            <a:srgbClr val="D7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3648456"/>
            <a:ext cx="99669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900" b="0" i="0">
                <a:solidFill>
                  <a:srgbClr val="223033"/>
                </a:solidFill>
                <a:latin typeface="Aptos"/>
              </a:rPr>
              <a:t>A sociedade industrial fortaleceu a burguesia e expandiu o trabalho assalariado.</a:t>
            </a:r>
          </a:p>
        </p:txBody>
      </p:sp>
      <p:sp>
        <p:nvSpPr>
          <p:cNvPr id="13" name="Oval 12"/>
          <p:cNvSpPr/>
          <p:nvPr/>
        </p:nvSpPr>
        <p:spPr>
          <a:xfrm>
            <a:off x="786384" y="4654296"/>
            <a:ext cx="146304" cy="146304"/>
          </a:xfrm>
          <a:prstGeom prst="ellipse">
            <a:avLst/>
          </a:prstGeom>
          <a:solidFill>
            <a:srgbClr val="D7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4581144"/>
            <a:ext cx="99669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900" b="0" i="0">
                <a:solidFill>
                  <a:srgbClr val="223033"/>
                </a:solidFill>
                <a:latin typeface="Aptos"/>
              </a:rPr>
              <a:t>Marx procurou explicar os conflitos e as desigualdades desse novo cenário.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7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7772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900" b="1" i="0">
                <a:solidFill>
                  <a:srgbClr val="186868"/>
                </a:solidFill>
                <a:latin typeface="Aptos"/>
              </a:rPr>
              <a:t>KARL MARX  •  FILOSOFIA E SOCIEDADE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19088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186868"/>
                </a:solidFill>
                <a:latin typeface="Apto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9875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100" b="1" i="0">
                <a:solidFill>
                  <a:srgbClr val="186868"/>
                </a:solidFill>
                <a:latin typeface="Aptos"/>
              </a:rPr>
              <a:t>04 • PARCERIA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68680"/>
            <a:ext cx="1078992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3000" b="1" i="0">
                <a:solidFill>
                  <a:srgbClr val="0F4144"/>
                </a:solidFill>
                <a:latin typeface="Aptos"/>
              </a:rPr>
              <a:t>Marx e Friedrich Engels</a:t>
            </a:r>
          </a:p>
        </p:txBody>
      </p:sp>
      <p:sp>
        <p:nvSpPr>
          <p:cNvPr id="7" name="Oval 6"/>
          <p:cNvSpPr/>
          <p:nvPr/>
        </p:nvSpPr>
        <p:spPr>
          <a:xfrm>
            <a:off x="786384" y="1856231"/>
            <a:ext cx="146304" cy="146304"/>
          </a:xfrm>
          <a:prstGeom prst="ellipse">
            <a:avLst/>
          </a:prstGeom>
          <a:solidFill>
            <a:srgbClr val="D7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1783080"/>
            <a:ext cx="99669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900" b="0" i="0">
                <a:solidFill>
                  <a:srgbClr val="223033"/>
                </a:solidFill>
                <a:latin typeface="Aptos"/>
              </a:rPr>
              <a:t>Engels foi filósofo e colaborador próximo de Marx.</a:t>
            </a:r>
          </a:p>
        </p:txBody>
      </p:sp>
      <p:sp>
        <p:nvSpPr>
          <p:cNvPr id="9" name="Oval 8"/>
          <p:cNvSpPr/>
          <p:nvPr/>
        </p:nvSpPr>
        <p:spPr>
          <a:xfrm>
            <a:off x="786384" y="2788920"/>
            <a:ext cx="146304" cy="146304"/>
          </a:xfrm>
          <a:prstGeom prst="ellipse">
            <a:avLst/>
          </a:prstGeom>
          <a:solidFill>
            <a:srgbClr val="D7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2715768"/>
            <a:ext cx="99669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900" b="0" i="0">
                <a:solidFill>
                  <a:srgbClr val="223033"/>
                </a:solidFill>
                <a:latin typeface="Aptos"/>
              </a:rPr>
              <a:t>Os dois escreveram juntos obras fundamentais, incluindo o Manifesto do Partido Comunista.</a:t>
            </a:r>
          </a:p>
        </p:txBody>
      </p:sp>
      <p:sp>
        <p:nvSpPr>
          <p:cNvPr id="11" name="Oval 10"/>
          <p:cNvSpPr/>
          <p:nvPr/>
        </p:nvSpPr>
        <p:spPr>
          <a:xfrm>
            <a:off x="786384" y="3721607"/>
            <a:ext cx="146304" cy="146304"/>
          </a:xfrm>
          <a:prstGeom prst="ellipse">
            <a:avLst/>
          </a:prstGeom>
          <a:solidFill>
            <a:srgbClr val="D7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3648456"/>
            <a:ext cx="99669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900" b="0" i="0">
                <a:solidFill>
                  <a:srgbClr val="223033"/>
                </a:solidFill>
                <a:latin typeface="Aptos"/>
              </a:rPr>
              <a:t>Analisaram as condições dos trabalhadores e as contradições do capitalismo.</a:t>
            </a:r>
          </a:p>
        </p:txBody>
      </p:sp>
      <p:sp>
        <p:nvSpPr>
          <p:cNvPr id="13" name="Oval 12"/>
          <p:cNvSpPr/>
          <p:nvPr/>
        </p:nvSpPr>
        <p:spPr>
          <a:xfrm>
            <a:off x="786384" y="4654296"/>
            <a:ext cx="146304" cy="146304"/>
          </a:xfrm>
          <a:prstGeom prst="ellipse">
            <a:avLst/>
          </a:prstGeom>
          <a:solidFill>
            <a:srgbClr val="D7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4581144"/>
            <a:ext cx="99669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900" b="0" i="0">
                <a:solidFill>
                  <a:srgbClr val="223033"/>
                </a:solidFill>
                <a:latin typeface="Aptos"/>
              </a:rPr>
              <a:t>A parceria ajudou a divulgar e desenvolver as ideias marxistas.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7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7772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900" b="1" i="0">
                <a:solidFill>
                  <a:srgbClr val="186868"/>
                </a:solidFill>
                <a:latin typeface="Aptos"/>
              </a:rPr>
              <a:t>KARL MARX  •  FILOSOFIA E SOCIEDADE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19088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186868"/>
                </a:solidFill>
                <a:latin typeface="Apto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9875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100" b="1" i="0">
                <a:solidFill>
                  <a:srgbClr val="186868"/>
                </a:solidFill>
                <a:latin typeface="Aptos"/>
              </a:rPr>
              <a:t>05 • LIVROS E IDEIAS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68680"/>
            <a:ext cx="1078992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3000" b="1" i="0">
                <a:solidFill>
                  <a:srgbClr val="0F4144"/>
                </a:solidFill>
                <a:latin typeface="Aptos"/>
              </a:rPr>
              <a:t>Principais obras</a:t>
            </a:r>
          </a:p>
        </p:txBody>
      </p:sp>
      <p:sp>
        <p:nvSpPr>
          <p:cNvPr id="7" name="Oval 6"/>
          <p:cNvSpPr/>
          <p:nvPr/>
        </p:nvSpPr>
        <p:spPr>
          <a:xfrm>
            <a:off x="786384" y="1856231"/>
            <a:ext cx="146304" cy="146304"/>
          </a:xfrm>
          <a:prstGeom prst="ellipse">
            <a:avLst/>
          </a:prstGeom>
          <a:solidFill>
            <a:srgbClr val="D7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1783080"/>
            <a:ext cx="99669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900" b="0" i="0">
                <a:solidFill>
                  <a:srgbClr val="223033"/>
                </a:solidFill>
                <a:latin typeface="Aptos"/>
              </a:rPr>
              <a:t>Manifesto do Partido Comunista (1848): apresenta a luta de classes e uma crítica à sociedade capitalista.</a:t>
            </a:r>
          </a:p>
        </p:txBody>
      </p:sp>
      <p:sp>
        <p:nvSpPr>
          <p:cNvPr id="9" name="Oval 8"/>
          <p:cNvSpPr/>
          <p:nvPr/>
        </p:nvSpPr>
        <p:spPr>
          <a:xfrm>
            <a:off x="786384" y="2788920"/>
            <a:ext cx="146304" cy="146304"/>
          </a:xfrm>
          <a:prstGeom prst="ellipse">
            <a:avLst/>
          </a:prstGeom>
          <a:solidFill>
            <a:srgbClr val="D7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2715768"/>
            <a:ext cx="99669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900" b="0" i="0">
                <a:solidFill>
                  <a:srgbClr val="223033"/>
                </a:solidFill>
                <a:latin typeface="Aptos"/>
              </a:rPr>
              <a:t>O Capital, Livro I (1867): analisa mercadorias, trabalho, valor e acumulação de capital.</a:t>
            </a:r>
          </a:p>
        </p:txBody>
      </p:sp>
      <p:sp>
        <p:nvSpPr>
          <p:cNvPr id="11" name="Oval 10"/>
          <p:cNvSpPr/>
          <p:nvPr/>
        </p:nvSpPr>
        <p:spPr>
          <a:xfrm>
            <a:off x="786384" y="3721607"/>
            <a:ext cx="146304" cy="146304"/>
          </a:xfrm>
          <a:prstGeom prst="ellipse">
            <a:avLst/>
          </a:prstGeom>
          <a:solidFill>
            <a:srgbClr val="D7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3648456"/>
            <a:ext cx="99669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900" b="0" i="0">
                <a:solidFill>
                  <a:srgbClr val="223033"/>
                </a:solidFill>
                <a:latin typeface="Aptos"/>
              </a:rPr>
              <a:t>A Ideologia Alemã (escrita em 1845–1846): desenvolve ideias importantes sobre história e sociedade.</a:t>
            </a:r>
          </a:p>
        </p:txBody>
      </p:sp>
      <p:sp>
        <p:nvSpPr>
          <p:cNvPr id="13" name="Oval 12"/>
          <p:cNvSpPr/>
          <p:nvPr/>
        </p:nvSpPr>
        <p:spPr>
          <a:xfrm>
            <a:off x="786384" y="4654296"/>
            <a:ext cx="146304" cy="146304"/>
          </a:xfrm>
          <a:prstGeom prst="ellipse">
            <a:avLst/>
          </a:prstGeom>
          <a:solidFill>
            <a:srgbClr val="D7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4581144"/>
            <a:ext cx="99669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900" b="0" i="0">
                <a:solidFill>
                  <a:srgbClr val="223033"/>
                </a:solidFill>
                <a:latin typeface="Aptos"/>
              </a:rPr>
              <a:t>Manuscritos Econômico-Filosóficos de 1844: discutem trabalho e alienação.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7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7772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900" b="1" i="0">
                <a:solidFill>
                  <a:srgbClr val="186868"/>
                </a:solidFill>
                <a:latin typeface="Aptos"/>
              </a:rPr>
              <a:t>KARL MARX  •  FILOSOFIA E SOCIEDADE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19088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186868"/>
                </a:solidFill>
                <a:latin typeface="Aptos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9875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100" b="1" i="0">
                <a:solidFill>
                  <a:srgbClr val="186868"/>
                </a:solidFill>
                <a:latin typeface="Aptos"/>
              </a:rPr>
              <a:t>06 • CONCEITO CENTRAL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68680"/>
            <a:ext cx="1078992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3000" b="1" i="0">
                <a:solidFill>
                  <a:srgbClr val="0F4144"/>
                </a:solidFill>
                <a:latin typeface="Aptos"/>
              </a:rPr>
              <a:t>Materialismo histórico</a:t>
            </a:r>
          </a:p>
        </p:txBody>
      </p:sp>
      <p:sp>
        <p:nvSpPr>
          <p:cNvPr id="7" name="Oval 6"/>
          <p:cNvSpPr/>
          <p:nvPr/>
        </p:nvSpPr>
        <p:spPr>
          <a:xfrm>
            <a:off x="786384" y="1856231"/>
            <a:ext cx="146304" cy="146304"/>
          </a:xfrm>
          <a:prstGeom prst="ellipse">
            <a:avLst/>
          </a:prstGeom>
          <a:solidFill>
            <a:srgbClr val="D7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1783080"/>
            <a:ext cx="99669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900" b="0" i="0">
                <a:solidFill>
                  <a:srgbClr val="223033"/>
                </a:solidFill>
                <a:latin typeface="Aptos"/>
              </a:rPr>
              <a:t>É uma forma de interpretar a história a partir das condições materiais e da organização da produção.</a:t>
            </a:r>
          </a:p>
        </p:txBody>
      </p:sp>
      <p:sp>
        <p:nvSpPr>
          <p:cNvPr id="9" name="Oval 8"/>
          <p:cNvSpPr/>
          <p:nvPr/>
        </p:nvSpPr>
        <p:spPr>
          <a:xfrm>
            <a:off x="786384" y="2788920"/>
            <a:ext cx="146304" cy="146304"/>
          </a:xfrm>
          <a:prstGeom prst="ellipse">
            <a:avLst/>
          </a:prstGeom>
          <a:solidFill>
            <a:srgbClr val="D7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2715768"/>
            <a:ext cx="99669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900" b="0" i="0">
                <a:solidFill>
                  <a:srgbClr val="223033"/>
                </a:solidFill>
                <a:latin typeface="Aptos"/>
              </a:rPr>
              <a:t>Para compreender uma sociedade, é importante observar como ela trabalha, produz e distribui recursos.</a:t>
            </a:r>
          </a:p>
        </p:txBody>
      </p:sp>
      <p:sp>
        <p:nvSpPr>
          <p:cNvPr id="11" name="Oval 10"/>
          <p:cNvSpPr/>
          <p:nvPr/>
        </p:nvSpPr>
        <p:spPr>
          <a:xfrm>
            <a:off x="786384" y="3721607"/>
            <a:ext cx="146304" cy="146304"/>
          </a:xfrm>
          <a:prstGeom prst="ellipse">
            <a:avLst/>
          </a:prstGeom>
          <a:solidFill>
            <a:srgbClr val="D7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3648456"/>
            <a:ext cx="99669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900" b="0" i="0">
                <a:solidFill>
                  <a:srgbClr val="223033"/>
                </a:solidFill>
                <a:latin typeface="Aptos"/>
              </a:rPr>
              <a:t>Mudanças econômicas podem influenciar instituições, relações sociais e ideias.</a:t>
            </a:r>
          </a:p>
        </p:txBody>
      </p:sp>
      <p:sp>
        <p:nvSpPr>
          <p:cNvPr id="13" name="Oval 12"/>
          <p:cNvSpPr/>
          <p:nvPr/>
        </p:nvSpPr>
        <p:spPr>
          <a:xfrm>
            <a:off x="786384" y="4654296"/>
            <a:ext cx="146304" cy="146304"/>
          </a:xfrm>
          <a:prstGeom prst="ellipse">
            <a:avLst/>
          </a:prstGeom>
          <a:solidFill>
            <a:srgbClr val="D7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4581144"/>
            <a:ext cx="99669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900" b="0" i="0">
                <a:solidFill>
                  <a:srgbClr val="223033"/>
                </a:solidFill>
                <a:latin typeface="Aptos"/>
              </a:rPr>
              <a:t>Exemplo: as fábricas transformaram o trabalho e a organização da vida urbana.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7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7772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900" b="1" i="0">
                <a:solidFill>
                  <a:srgbClr val="186868"/>
                </a:solidFill>
                <a:latin typeface="Aptos"/>
              </a:rPr>
              <a:t>KARL MARX  •  FILOSOFIA E SOCIEDADE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19088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186868"/>
                </a:solidFill>
                <a:latin typeface="Aptos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9875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100" b="1" i="0">
                <a:solidFill>
                  <a:srgbClr val="186868"/>
                </a:solidFill>
                <a:latin typeface="Aptos"/>
              </a:rPr>
              <a:t>07 • CLASSES SOCIAIS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68680"/>
            <a:ext cx="1078992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3000" b="1" i="0">
                <a:solidFill>
                  <a:srgbClr val="0F4144"/>
                </a:solidFill>
                <a:latin typeface="Aptos"/>
              </a:rPr>
              <a:t>A luta de classes</a:t>
            </a:r>
          </a:p>
        </p:txBody>
      </p:sp>
      <p:sp>
        <p:nvSpPr>
          <p:cNvPr id="7" name="Oval 6"/>
          <p:cNvSpPr/>
          <p:nvPr/>
        </p:nvSpPr>
        <p:spPr>
          <a:xfrm>
            <a:off x="786384" y="1856231"/>
            <a:ext cx="146304" cy="146304"/>
          </a:xfrm>
          <a:prstGeom prst="ellipse">
            <a:avLst/>
          </a:prstGeom>
          <a:solidFill>
            <a:srgbClr val="D7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1783080"/>
            <a:ext cx="99669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900" b="0" i="0">
                <a:solidFill>
                  <a:srgbClr val="223033"/>
                </a:solidFill>
                <a:latin typeface="Aptos"/>
              </a:rPr>
              <a:t>Marx destacou os conflitos entre grupos com interesses econômicos diferentes.</a:t>
            </a:r>
          </a:p>
        </p:txBody>
      </p:sp>
      <p:sp>
        <p:nvSpPr>
          <p:cNvPr id="9" name="Oval 8"/>
          <p:cNvSpPr/>
          <p:nvPr/>
        </p:nvSpPr>
        <p:spPr>
          <a:xfrm>
            <a:off x="786384" y="2788920"/>
            <a:ext cx="146304" cy="146304"/>
          </a:xfrm>
          <a:prstGeom prst="ellipse">
            <a:avLst/>
          </a:prstGeom>
          <a:solidFill>
            <a:srgbClr val="D7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2715768"/>
            <a:ext cx="99669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900" b="0" i="0">
                <a:solidFill>
                  <a:srgbClr val="223033"/>
                </a:solidFill>
                <a:latin typeface="Aptos"/>
              </a:rPr>
              <a:t>Burguesia: classe proprietária dos meios de produção, como fábricas e empresas.</a:t>
            </a:r>
          </a:p>
        </p:txBody>
      </p:sp>
      <p:sp>
        <p:nvSpPr>
          <p:cNvPr id="11" name="Oval 10"/>
          <p:cNvSpPr/>
          <p:nvPr/>
        </p:nvSpPr>
        <p:spPr>
          <a:xfrm>
            <a:off x="786384" y="3721607"/>
            <a:ext cx="146304" cy="146304"/>
          </a:xfrm>
          <a:prstGeom prst="ellipse">
            <a:avLst/>
          </a:prstGeom>
          <a:solidFill>
            <a:srgbClr val="D7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3648456"/>
            <a:ext cx="99669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900" b="0" i="0">
                <a:solidFill>
                  <a:srgbClr val="223033"/>
                </a:solidFill>
                <a:latin typeface="Aptos"/>
              </a:rPr>
              <a:t>Proletariado: trabalhadores que vendem sua força de trabalho em troca de salário.</a:t>
            </a:r>
          </a:p>
        </p:txBody>
      </p:sp>
      <p:sp>
        <p:nvSpPr>
          <p:cNvPr id="13" name="Oval 12"/>
          <p:cNvSpPr/>
          <p:nvPr/>
        </p:nvSpPr>
        <p:spPr>
          <a:xfrm>
            <a:off x="786384" y="4654296"/>
            <a:ext cx="146304" cy="146304"/>
          </a:xfrm>
          <a:prstGeom prst="ellipse">
            <a:avLst/>
          </a:prstGeom>
          <a:solidFill>
            <a:srgbClr val="D7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4581144"/>
            <a:ext cx="99669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900" b="0" i="0">
                <a:solidFill>
                  <a:srgbClr val="223033"/>
                </a:solidFill>
                <a:latin typeface="Aptos"/>
              </a:rPr>
              <a:t>A relação entre essas classes ajuda a explicar conflitos sobre salários, condições e controle do trabalho.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7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7772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900" b="1" i="0">
                <a:solidFill>
                  <a:srgbClr val="186868"/>
                </a:solidFill>
                <a:latin typeface="Aptos"/>
              </a:rPr>
              <a:t>KARL MARX  •  FILOSOFIA E SOCIEDADE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19088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186868"/>
                </a:solidFill>
                <a:latin typeface="Aptos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9875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100" b="1" i="0">
                <a:solidFill>
                  <a:srgbClr val="186868"/>
                </a:solidFill>
                <a:latin typeface="Aptos"/>
              </a:rPr>
              <a:t>08 • ECONOMIA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68680"/>
            <a:ext cx="1078992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3000" b="1" i="0">
                <a:solidFill>
                  <a:srgbClr val="0F4144"/>
                </a:solidFill>
                <a:latin typeface="Aptos"/>
              </a:rPr>
              <a:t>A crítica ao capitalismo</a:t>
            </a:r>
          </a:p>
        </p:txBody>
      </p:sp>
      <p:sp>
        <p:nvSpPr>
          <p:cNvPr id="7" name="Oval 6"/>
          <p:cNvSpPr/>
          <p:nvPr/>
        </p:nvSpPr>
        <p:spPr>
          <a:xfrm>
            <a:off x="786384" y="1856231"/>
            <a:ext cx="146304" cy="146304"/>
          </a:xfrm>
          <a:prstGeom prst="ellipse">
            <a:avLst/>
          </a:prstGeom>
          <a:solidFill>
            <a:srgbClr val="D7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1783080"/>
            <a:ext cx="99669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900" b="0" i="0">
                <a:solidFill>
                  <a:srgbClr val="223033"/>
                </a:solidFill>
                <a:latin typeface="Aptos"/>
              </a:rPr>
              <a:t>Marx investigou como o capitalismo organiza a produção e a obtenção de lucro.</a:t>
            </a:r>
          </a:p>
        </p:txBody>
      </p:sp>
      <p:sp>
        <p:nvSpPr>
          <p:cNvPr id="9" name="Oval 8"/>
          <p:cNvSpPr/>
          <p:nvPr/>
        </p:nvSpPr>
        <p:spPr>
          <a:xfrm>
            <a:off x="786384" y="2788920"/>
            <a:ext cx="146304" cy="146304"/>
          </a:xfrm>
          <a:prstGeom prst="ellipse">
            <a:avLst/>
          </a:prstGeom>
          <a:solidFill>
            <a:srgbClr val="D7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2715768"/>
            <a:ext cx="99669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900" b="0" i="0">
                <a:solidFill>
                  <a:srgbClr val="223033"/>
                </a:solidFill>
                <a:latin typeface="Aptos"/>
              </a:rPr>
              <a:t>Criticou a concentração da propriedade e da riqueza nas mãos de uma parcela da sociedade.</a:t>
            </a:r>
          </a:p>
        </p:txBody>
      </p:sp>
      <p:sp>
        <p:nvSpPr>
          <p:cNvPr id="11" name="Oval 10"/>
          <p:cNvSpPr/>
          <p:nvPr/>
        </p:nvSpPr>
        <p:spPr>
          <a:xfrm>
            <a:off x="786384" y="3721607"/>
            <a:ext cx="146304" cy="146304"/>
          </a:xfrm>
          <a:prstGeom prst="ellipse">
            <a:avLst/>
          </a:prstGeom>
          <a:solidFill>
            <a:srgbClr val="D7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3648456"/>
            <a:ext cx="99669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900" b="0" i="0">
                <a:solidFill>
                  <a:srgbClr val="223033"/>
                </a:solidFill>
                <a:latin typeface="Aptos"/>
              </a:rPr>
              <a:t>Argumentou que os interesses de trabalhadores e proprietários podem entrar em conflito.</a:t>
            </a:r>
          </a:p>
        </p:txBody>
      </p:sp>
      <p:sp>
        <p:nvSpPr>
          <p:cNvPr id="13" name="Oval 12"/>
          <p:cNvSpPr/>
          <p:nvPr/>
        </p:nvSpPr>
        <p:spPr>
          <a:xfrm>
            <a:off x="786384" y="4654296"/>
            <a:ext cx="146304" cy="146304"/>
          </a:xfrm>
          <a:prstGeom prst="ellipse">
            <a:avLst/>
          </a:prstGeom>
          <a:solidFill>
            <a:srgbClr val="D7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4581144"/>
            <a:ext cx="99669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900" b="0" i="0">
                <a:solidFill>
                  <a:srgbClr val="223033"/>
                </a:solidFill>
                <a:latin typeface="Aptos"/>
              </a:rPr>
              <a:t>Sua análise buscava compreender as contradições do sistema e as possibilidades de mudança.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7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7772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900" b="1" i="0">
                <a:solidFill>
                  <a:srgbClr val="186868"/>
                </a:solidFill>
                <a:latin typeface="Aptos"/>
              </a:rPr>
              <a:t>KARL MARX  •  FILOSOFIA E SOCIEDADE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19088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186868"/>
                </a:solidFill>
                <a:latin typeface="Apto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9875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100" b="1" i="0">
                <a:solidFill>
                  <a:srgbClr val="186868"/>
                </a:solidFill>
                <a:latin typeface="Aptos"/>
              </a:rPr>
              <a:t>09 • TRABALHO E VALOR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68680"/>
            <a:ext cx="1078992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3000" b="1" i="0">
                <a:solidFill>
                  <a:srgbClr val="0F4144"/>
                </a:solidFill>
                <a:latin typeface="Aptos"/>
              </a:rPr>
              <a:t>O conceito de mais-valia</a:t>
            </a:r>
          </a:p>
        </p:txBody>
      </p:sp>
      <p:sp>
        <p:nvSpPr>
          <p:cNvPr id="7" name="Oval 6"/>
          <p:cNvSpPr/>
          <p:nvPr/>
        </p:nvSpPr>
        <p:spPr>
          <a:xfrm>
            <a:off x="786384" y="1856231"/>
            <a:ext cx="146304" cy="146304"/>
          </a:xfrm>
          <a:prstGeom prst="ellipse">
            <a:avLst/>
          </a:prstGeom>
          <a:solidFill>
            <a:srgbClr val="D7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1783080"/>
            <a:ext cx="99669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900" b="0" i="0">
                <a:solidFill>
                  <a:srgbClr val="223033"/>
                </a:solidFill>
                <a:latin typeface="Aptos"/>
              </a:rPr>
              <a:t>Mais-valia é o valor criado pelo trabalhador que excede o valor equivalente à sua força de trabalho.</a:t>
            </a:r>
          </a:p>
        </p:txBody>
      </p:sp>
      <p:sp>
        <p:nvSpPr>
          <p:cNvPr id="9" name="Oval 8"/>
          <p:cNvSpPr/>
          <p:nvPr/>
        </p:nvSpPr>
        <p:spPr>
          <a:xfrm>
            <a:off x="786384" y="2788920"/>
            <a:ext cx="146304" cy="146304"/>
          </a:xfrm>
          <a:prstGeom prst="ellipse">
            <a:avLst/>
          </a:prstGeom>
          <a:solidFill>
            <a:srgbClr val="D7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2715768"/>
            <a:ext cx="99669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900" b="0" i="0">
                <a:solidFill>
                  <a:srgbClr val="223033"/>
                </a:solidFill>
                <a:latin typeface="Aptos"/>
              </a:rPr>
              <a:t>Na teoria de Marx, essa diferença é apropriada pelo proprietário no processo de produção.</a:t>
            </a:r>
          </a:p>
        </p:txBody>
      </p:sp>
      <p:sp>
        <p:nvSpPr>
          <p:cNvPr id="11" name="Oval 10"/>
          <p:cNvSpPr/>
          <p:nvPr/>
        </p:nvSpPr>
        <p:spPr>
          <a:xfrm>
            <a:off x="786384" y="3721607"/>
            <a:ext cx="146304" cy="146304"/>
          </a:xfrm>
          <a:prstGeom prst="ellipse">
            <a:avLst/>
          </a:prstGeom>
          <a:solidFill>
            <a:srgbClr val="D7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3648456"/>
            <a:ext cx="99669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900" b="0" i="0">
                <a:solidFill>
                  <a:srgbClr val="223033"/>
                </a:solidFill>
                <a:latin typeface="Aptos"/>
              </a:rPr>
              <a:t>O conceito é usado para explicar a origem do lucro dentro das relações capitalistas.</a:t>
            </a:r>
          </a:p>
        </p:txBody>
      </p:sp>
      <p:sp>
        <p:nvSpPr>
          <p:cNvPr id="13" name="Oval 12"/>
          <p:cNvSpPr/>
          <p:nvPr/>
        </p:nvSpPr>
        <p:spPr>
          <a:xfrm>
            <a:off x="786384" y="4654296"/>
            <a:ext cx="146304" cy="146304"/>
          </a:xfrm>
          <a:prstGeom prst="ellipse">
            <a:avLst/>
          </a:prstGeom>
          <a:solidFill>
            <a:srgbClr val="D7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4581144"/>
            <a:ext cx="99669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900" b="0" i="0">
                <a:solidFill>
                  <a:srgbClr val="223033"/>
                </a:solidFill>
                <a:latin typeface="Aptos"/>
              </a:rPr>
              <a:t>A análise considera também os custos e as condições sociais da produção.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5285232"/>
            <a:ext cx="10744200" cy="658368"/>
          </a:xfrm>
          <a:prstGeom prst="roundRect">
            <a:avLst/>
          </a:prstGeom>
          <a:solidFill>
            <a:srgbClr val="186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413248"/>
            <a:ext cx="1028700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Ideia-chave: entender quem produz valor e como ele é distribuído.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7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7772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900" b="1" i="0">
                <a:solidFill>
                  <a:srgbClr val="186868"/>
                </a:solidFill>
                <a:latin typeface="Aptos"/>
              </a:rPr>
              <a:t>KARL MARX  •  FILOSOFIA E SOCIEDADE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19088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186868"/>
                </a:solidFill>
                <a:latin typeface="Aptos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9875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100" b="1" i="0">
                <a:solidFill>
                  <a:srgbClr val="186868"/>
                </a:solidFill>
                <a:latin typeface="Aptos"/>
              </a:rPr>
              <a:t>10 • EXPERIÊNCIA DO TRABALHADOR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68680"/>
            <a:ext cx="1078992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3000" b="1" i="0">
                <a:solidFill>
                  <a:srgbClr val="0F4144"/>
                </a:solidFill>
                <a:latin typeface="Aptos"/>
              </a:rPr>
              <a:t>Alienação do trabalho</a:t>
            </a:r>
          </a:p>
        </p:txBody>
      </p:sp>
      <p:sp>
        <p:nvSpPr>
          <p:cNvPr id="7" name="Oval 6"/>
          <p:cNvSpPr/>
          <p:nvPr/>
        </p:nvSpPr>
        <p:spPr>
          <a:xfrm>
            <a:off x="786384" y="1856231"/>
            <a:ext cx="146304" cy="146304"/>
          </a:xfrm>
          <a:prstGeom prst="ellipse">
            <a:avLst/>
          </a:prstGeom>
          <a:solidFill>
            <a:srgbClr val="D7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1783080"/>
            <a:ext cx="99669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900" b="0" i="0">
                <a:solidFill>
                  <a:srgbClr val="223033"/>
                </a:solidFill>
                <a:latin typeface="Aptos"/>
              </a:rPr>
              <a:t>A alienação ocorre quando o trabalhador perde controle sobre aspectos do seu trabalho e de seu produto.</a:t>
            </a:r>
          </a:p>
        </p:txBody>
      </p:sp>
      <p:sp>
        <p:nvSpPr>
          <p:cNvPr id="9" name="Oval 8"/>
          <p:cNvSpPr/>
          <p:nvPr/>
        </p:nvSpPr>
        <p:spPr>
          <a:xfrm>
            <a:off x="786384" y="2788920"/>
            <a:ext cx="146304" cy="146304"/>
          </a:xfrm>
          <a:prstGeom prst="ellipse">
            <a:avLst/>
          </a:prstGeom>
          <a:solidFill>
            <a:srgbClr val="D7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2715768"/>
            <a:ext cx="99669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900" b="0" i="0">
                <a:solidFill>
                  <a:srgbClr val="223033"/>
                </a:solidFill>
                <a:latin typeface="Aptos"/>
              </a:rPr>
              <a:t>Uma tarefa repetitiva pode afastar o trabalhador das decisões sobre o processo completo.</a:t>
            </a:r>
          </a:p>
        </p:txBody>
      </p:sp>
      <p:sp>
        <p:nvSpPr>
          <p:cNvPr id="11" name="Oval 10"/>
          <p:cNvSpPr/>
          <p:nvPr/>
        </p:nvSpPr>
        <p:spPr>
          <a:xfrm>
            <a:off x="786384" y="3721607"/>
            <a:ext cx="146304" cy="146304"/>
          </a:xfrm>
          <a:prstGeom prst="ellipse">
            <a:avLst/>
          </a:prstGeom>
          <a:solidFill>
            <a:srgbClr val="D7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3648456"/>
            <a:ext cx="99669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900" b="0" i="0">
                <a:solidFill>
                  <a:srgbClr val="223033"/>
                </a:solidFill>
                <a:latin typeface="Aptos"/>
              </a:rPr>
              <a:t>O trabalho pode ser vivido apenas como uma obrigação para garantir a sobrevivência.</a:t>
            </a:r>
          </a:p>
        </p:txBody>
      </p:sp>
      <p:sp>
        <p:nvSpPr>
          <p:cNvPr id="13" name="Oval 12"/>
          <p:cNvSpPr/>
          <p:nvPr/>
        </p:nvSpPr>
        <p:spPr>
          <a:xfrm>
            <a:off x="786384" y="4654296"/>
            <a:ext cx="146304" cy="146304"/>
          </a:xfrm>
          <a:prstGeom prst="ellipse">
            <a:avLst/>
          </a:prstGeom>
          <a:solidFill>
            <a:srgbClr val="D7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4581144"/>
            <a:ext cx="99669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900" b="0" i="0">
                <a:solidFill>
                  <a:srgbClr val="223033"/>
                </a:solidFill>
                <a:latin typeface="Aptos"/>
              </a:rPr>
              <a:t>O conceito continua presente em debates sobre autonomia, tecnologia e organização das empresas.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7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7772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900" b="1" i="0">
                <a:solidFill>
                  <a:srgbClr val="186868"/>
                </a:solidFill>
                <a:latin typeface="Aptos"/>
              </a:rPr>
              <a:t>KARL MARX  •  FILOSOFIA E SOCIEDADE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19088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186868"/>
                </a:solidFill>
                <a:latin typeface="Aptos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9875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100" b="1" i="0">
                <a:solidFill>
                  <a:srgbClr val="186868"/>
                </a:solidFill>
                <a:latin typeface="Aptos"/>
              </a:rPr>
              <a:t>11 • PROJETO DE SOCIEDADE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68680"/>
            <a:ext cx="1078992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3000" b="1" i="0">
                <a:solidFill>
                  <a:srgbClr val="0F4144"/>
                </a:solidFill>
                <a:latin typeface="Aptos"/>
              </a:rPr>
              <a:t>Socialismo e comunismo</a:t>
            </a:r>
          </a:p>
        </p:txBody>
      </p:sp>
      <p:sp>
        <p:nvSpPr>
          <p:cNvPr id="7" name="Oval 6"/>
          <p:cNvSpPr/>
          <p:nvPr/>
        </p:nvSpPr>
        <p:spPr>
          <a:xfrm>
            <a:off x="786384" y="1856231"/>
            <a:ext cx="146304" cy="146304"/>
          </a:xfrm>
          <a:prstGeom prst="ellipse">
            <a:avLst/>
          </a:prstGeom>
          <a:solidFill>
            <a:srgbClr val="D7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1783080"/>
            <a:ext cx="99669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900" b="0" i="0">
                <a:solidFill>
                  <a:srgbClr val="223033"/>
                </a:solidFill>
                <a:latin typeface="Aptos"/>
              </a:rPr>
              <a:t>Socialismo é um conjunto de correntes que propõem formas de propriedade social, coletiva ou pública dos meios de produção.</a:t>
            </a:r>
          </a:p>
        </p:txBody>
      </p:sp>
      <p:sp>
        <p:nvSpPr>
          <p:cNvPr id="9" name="Oval 8"/>
          <p:cNvSpPr/>
          <p:nvPr/>
        </p:nvSpPr>
        <p:spPr>
          <a:xfrm>
            <a:off x="786384" y="2788920"/>
            <a:ext cx="146304" cy="146304"/>
          </a:xfrm>
          <a:prstGeom prst="ellipse">
            <a:avLst/>
          </a:prstGeom>
          <a:solidFill>
            <a:srgbClr val="D7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2715768"/>
            <a:ext cx="99669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900" b="0" i="0">
                <a:solidFill>
                  <a:srgbClr val="223033"/>
                </a:solidFill>
                <a:latin typeface="Aptos"/>
              </a:rPr>
              <a:t>Na teoria marxista, o comunismo seria uma sociedade sem classes sociais e sem propriedade privada dos meios de produção.</a:t>
            </a:r>
          </a:p>
        </p:txBody>
      </p:sp>
      <p:sp>
        <p:nvSpPr>
          <p:cNvPr id="11" name="Oval 10"/>
          <p:cNvSpPr/>
          <p:nvPr/>
        </p:nvSpPr>
        <p:spPr>
          <a:xfrm>
            <a:off x="786384" y="3721607"/>
            <a:ext cx="146304" cy="146304"/>
          </a:xfrm>
          <a:prstGeom prst="ellipse">
            <a:avLst/>
          </a:prstGeom>
          <a:solidFill>
            <a:srgbClr val="D7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3648456"/>
            <a:ext cx="99669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900" b="0" i="0">
                <a:solidFill>
                  <a:srgbClr val="223033"/>
                </a:solidFill>
                <a:latin typeface="Aptos"/>
              </a:rPr>
              <a:t>Os termos receberam interpretações diferentes ao longo da história.</a:t>
            </a:r>
          </a:p>
        </p:txBody>
      </p:sp>
      <p:sp>
        <p:nvSpPr>
          <p:cNvPr id="13" name="Oval 12"/>
          <p:cNvSpPr/>
          <p:nvPr/>
        </p:nvSpPr>
        <p:spPr>
          <a:xfrm>
            <a:off x="786384" y="4654296"/>
            <a:ext cx="146304" cy="146304"/>
          </a:xfrm>
          <a:prstGeom prst="ellipse">
            <a:avLst/>
          </a:prstGeom>
          <a:solidFill>
            <a:srgbClr val="D7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4581144"/>
            <a:ext cx="99669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900" b="0" i="0">
                <a:solidFill>
                  <a:srgbClr val="223033"/>
                </a:solidFill>
                <a:latin typeface="Aptos"/>
              </a:rPr>
              <a:t>Governos que se declararam socialistas adotaram modelos variados, nem sempre correspondentes ao ideal teórico de Marx.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7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7772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900" b="1" i="0">
                <a:solidFill>
                  <a:srgbClr val="186868"/>
                </a:solidFill>
                <a:latin typeface="Aptos"/>
              </a:rPr>
              <a:t>KARL MARX  •  FILOSOFIA E SOCIEDADE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19088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186868"/>
                </a:solidFill>
                <a:latin typeface="Aptos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9875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100" b="1" i="0">
                <a:solidFill>
                  <a:srgbClr val="186868"/>
                </a:solidFill>
                <a:latin typeface="Aptos"/>
              </a:rPr>
              <a:t>12 • INFLUÊNCIA HISTÓRICA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68680"/>
            <a:ext cx="1078992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3000" b="1" i="0">
                <a:solidFill>
                  <a:srgbClr val="0F4144"/>
                </a:solidFill>
                <a:latin typeface="Aptos"/>
              </a:rPr>
              <a:t>Influência no mundo</a:t>
            </a:r>
          </a:p>
        </p:txBody>
      </p:sp>
      <p:sp>
        <p:nvSpPr>
          <p:cNvPr id="7" name="Oval 6"/>
          <p:cNvSpPr/>
          <p:nvPr/>
        </p:nvSpPr>
        <p:spPr>
          <a:xfrm>
            <a:off x="786384" y="1856231"/>
            <a:ext cx="146304" cy="146304"/>
          </a:xfrm>
          <a:prstGeom prst="ellipse">
            <a:avLst/>
          </a:prstGeom>
          <a:solidFill>
            <a:srgbClr val="D7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1783080"/>
            <a:ext cx="99669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900" b="0" i="0">
                <a:solidFill>
                  <a:srgbClr val="223033"/>
                </a:solidFill>
                <a:latin typeface="Aptos"/>
              </a:rPr>
              <a:t>As ideias de Marx influenciaram sindicatos, movimentos operários e partidos políticos.</a:t>
            </a:r>
          </a:p>
        </p:txBody>
      </p:sp>
      <p:sp>
        <p:nvSpPr>
          <p:cNvPr id="9" name="Oval 8"/>
          <p:cNvSpPr/>
          <p:nvPr/>
        </p:nvSpPr>
        <p:spPr>
          <a:xfrm>
            <a:off x="786384" y="2788920"/>
            <a:ext cx="146304" cy="146304"/>
          </a:xfrm>
          <a:prstGeom prst="ellipse">
            <a:avLst/>
          </a:prstGeom>
          <a:solidFill>
            <a:srgbClr val="D7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2715768"/>
            <a:ext cx="99669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900" b="0" i="0">
                <a:solidFill>
                  <a:srgbClr val="223033"/>
                </a:solidFill>
                <a:latin typeface="Aptos"/>
              </a:rPr>
              <a:t>Tiveram impacto em debates e movimentos revolucionários, incluindo a Revolução Russa de 1917.</a:t>
            </a:r>
          </a:p>
        </p:txBody>
      </p:sp>
      <p:sp>
        <p:nvSpPr>
          <p:cNvPr id="11" name="Oval 10"/>
          <p:cNvSpPr/>
          <p:nvPr/>
        </p:nvSpPr>
        <p:spPr>
          <a:xfrm>
            <a:off x="786384" y="3721607"/>
            <a:ext cx="146304" cy="146304"/>
          </a:xfrm>
          <a:prstGeom prst="ellipse">
            <a:avLst/>
          </a:prstGeom>
          <a:solidFill>
            <a:srgbClr val="D7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3648456"/>
            <a:ext cx="99669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900" b="0" i="0">
                <a:solidFill>
                  <a:srgbClr val="223033"/>
                </a:solidFill>
                <a:latin typeface="Aptos"/>
              </a:rPr>
              <a:t>Influenciaram estudos em Sociologia, História, Filosofia, Economia e Ciência Política.</a:t>
            </a:r>
          </a:p>
        </p:txBody>
      </p:sp>
      <p:sp>
        <p:nvSpPr>
          <p:cNvPr id="13" name="Oval 12"/>
          <p:cNvSpPr/>
          <p:nvPr/>
        </p:nvSpPr>
        <p:spPr>
          <a:xfrm>
            <a:off x="786384" y="4654296"/>
            <a:ext cx="146304" cy="146304"/>
          </a:xfrm>
          <a:prstGeom prst="ellipse">
            <a:avLst/>
          </a:prstGeom>
          <a:solidFill>
            <a:srgbClr val="D7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4581144"/>
            <a:ext cx="99669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900" b="0" i="0">
                <a:solidFill>
                  <a:srgbClr val="223033"/>
                </a:solidFill>
                <a:latin typeface="Aptos"/>
              </a:rPr>
              <a:t>Seus conceitos seguem presentes em discussões sobre desigualdade, trabalho e concentração de riqueza.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7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7772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900" b="1" i="0">
                <a:solidFill>
                  <a:srgbClr val="186868"/>
                </a:solidFill>
                <a:latin typeface="Aptos"/>
              </a:rPr>
              <a:t>KARL MARX  •  FILOSOFIA E SOCIEDADE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19088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186868"/>
                </a:solidFill>
                <a:latin typeface="Aptos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9875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100" b="1" i="0">
                <a:solidFill>
                  <a:srgbClr val="186868"/>
                </a:solidFill>
                <a:latin typeface="Aptos"/>
              </a:rPr>
              <a:t>13 • DEBATE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68680"/>
            <a:ext cx="1078992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3000" b="1" i="0">
                <a:solidFill>
                  <a:srgbClr val="0F4144"/>
                </a:solidFill>
                <a:latin typeface="Aptos"/>
              </a:rPr>
              <a:t>Críticas e legado</a:t>
            </a:r>
          </a:p>
        </p:txBody>
      </p:sp>
      <p:sp>
        <p:nvSpPr>
          <p:cNvPr id="7" name="Oval 6"/>
          <p:cNvSpPr/>
          <p:nvPr/>
        </p:nvSpPr>
        <p:spPr>
          <a:xfrm>
            <a:off x="786384" y="1856231"/>
            <a:ext cx="146304" cy="146304"/>
          </a:xfrm>
          <a:prstGeom prst="ellipse">
            <a:avLst/>
          </a:prstGeom>
          <a:solidFill>
            <a:srgbClr val="D7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1783080"/>
            <a:ext cx="99669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900" b="0" i="0">
                <a:solidFill>
                  <a:srgbClr val="223033"/>
                </a:solidFill>
                <a:latin typeface="Aptos"/>
              </a:rPr>
              <a:t>Economistas e filósofos questionaram partes de suas explicações sobre valor, lucro e capitalismo.</a:t>
            </a:r>
          </a:p>
        </p:txBody>
      </p:sp>
      <p:sp>
        <p:nvSpPr>
          <p:cNvPr id="9" name="Oval 8"/>
          <p:cNvSpPr/>
          <p:nvPr/>
        </p:nvSpPr>
        <p:spPr>
          <a:xfrm>
            <a:off x="786384" y="2788920"/>
            <a:ext cx="146304" cy="146304"/>
          </a:xfrm>
          <a:prstGeom prst="ellipse">
            <a:avLst/>
          </a:prstGeom>
          <a:solidFill>
            <a:srgbClr val="D7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2715768"/>
            <a:ext cx="99669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900" b="0" i="0">
                <a:solidFill>
                  <a:srgbClr val="223033"/>
                </a:solidFill>
                <a:latin typeface="Aptos"/>
              </a:rPr>
              <a:t>Governos que se inspiraram no marxismo também foram criticados por autoritarismo e restrições a liberdades.</a:t>
            </a:r>
          </a:p>
        </p:txBody>
      </p:sp>
      <p:sp>
        <p:nvSpPr>
          <p:cNvPr id="11" name="Oval 10"/>
          <p:cNvSpPr/>
          <p:nvPr/>
        </p:nvSpPr>
        <p:spPr>
          <a:xfrm>
            <a:off x="786384" y="3721607"/>
            <a:ext cx="146304" cy="146304"/>
          </a:xfrm>
          <a:prstGeom prst="ellipse">
            <a:avLst/>
          </a:prstGeom>
          <a:solidFill>
            <a:srgbClr val="D7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3648456"/>
            <a:ext cx="99669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900" b="0" i="0">
                <a:solidFill>
                  <a:srgbClr val="223033"/>
                </a:solidFill>
                <a:latin typeface="Aptos"/>
              </a:rPr>
              <a:t>Ao mesmo tempo, pesquisadores continuam usando conceitos marxistas para estudar classes e desigualdade.</a:t>
            </a:r>
          </a:p>
        </p:txBody>
      </p:sp>
      <p:sp>
        <p:nvSpPr>
          <p:cNvPr id="13" name="Oval 12"/>
          <p:cNvSpPr/>
          <p:nvPr/>
        </p:nvSpPr>
        <p:spPr>
          <a:xfrm>
            <a:off x="786384" y="4654296"/>
            <a:ext cx="146304" cy="146304"/>
          </a:xfrm>
          <a:prstGeom prst="ellipse">
            <a:avLst/>
          </a:prstGeom>
          <a:solidFill>
            <a:srgbClr val="D7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4581144"/>
            <a:ext cx="99669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900" b="0" i="0">
                <a:solidFill>
                  <a:srgbClr val="223033"/>
                </a:solidFill>
                <a:latin typeface="Aptos"/>
              </a:rPr>
              <a:t>Seu legado inclui tanto a influência política quanto o debate crítico sobre a sociedade moderna.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686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7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7772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900" b="1" i="0">
                <a:solidFill>
                  <a:srgbClr val="EBF5F3"/>
                </a:solidFill>
                <a:latin typeface="Aptos"/>
              </a:rPr>
              <a:t>KARL MARX  •  FILOSOFIA E SOCIEDADE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19088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EBF5F3"/>
                </a:solidFill>
                <a:latin typeface="Aptos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9875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100" b="1" i="0">
                <a:solidFill>
                  <a:srgbClr val="D7A44B"/>
                </a:solidFill>
                <a:latin typeface="Aptos"/>
              </a:rPr>
              <a:t>14 • SÍNTESE 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68680"/>
            <a:ext cx="1078992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Aptos"/>
              </a:rPr>
              <a:t>Conclusão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5156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Aptos"/>
              </a:rPr>
              <a:t>Karl Marx marcou profundamente o pensamento social, econômico e político.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9966960" cy="1508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2000" b="0" i="0">
                <a:solidFill>
                  <a:srgbClr val="EBF5F3"/>
                </a:solidFill>
                <a:latin typeface="Aptos"/>
              </a:rPr>
              <a:t>Seus estudos sobre luta de classes, mais-valia, alienação e capitalismo oferecem ferramentas para analisar relações de trabalho e desigualdades. Mesmo com críticas e interpretações diversas, suas ideias continuam sendo debatidas e estudadas.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00600"/>
            <a:ext cx="978408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700" b="1" i="0">
                <a:solidFill>
                  <a:srgbClr val="FFFFFF"/>
                </a:solidFill>
                <a:latin typeface="Aptos"/>
              </a:rPr>
              <a:t>Estudar Marx é compreender uma das principais interpretações sobre como a economia influencia a organização da sociedade.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7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7772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900" b="1" i="0">
                <a:solidFill>
                  <a:srgbClr val="186868"/>
                </a:solidFill>
                <a:latin typeface="Aptos"/>
              </a:rPr>
              <a:t>KARL MARX  •  FILOSOFIA E SOCIEDADE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19088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186868"/>
                </a:solidFill>
                <a:latin typeface="Aptos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9875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100" b="1" i="0">
                <a:solidFill>
                  <a:srgbClr val="186868"/>
                </a:solidFill>
                <a:latin typeface="Aptos"/>
              </a:rPr>
              <a:t>FONTES PARA CONSULTA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68680"/>
            <a:ext cx="1078992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3000" b="1" i="0">
                <a:solidFill>
                  <a:srgbClr val="0F4144"/>
                </a:solidFill>
                <a:latin typeface="Aptos"/>
              </a:rPr>
              <a:t>Referências</a:t>
            </a:r>
          </a:p>
        </p:txBody>
      </p:sp>
      <p:sp>
        <p:nvSpPr>
          <p:cNvPr id="7" name="Oval 6"/>
          <p:cNvSpPr/>
          <p:nvPr/>
        </p:nvSpPr>
        <p:spPr>
          <a:xfrm>
            <a:off x="786384" y="1856231"/>
            <a:ext cx="146304" cy="146304"/>
          </a:xfrm>
          <a:prstGeom prst="ellipse">
            <a:avLst/>
          </a:prstGeom>
          <a:solidFill>
            <a:srgbClr val="D7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1783080"/>
            <a:ext cx="99669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900" b="0" i="0">
                <a:solidFill>
                  <a:srgbClr val="223033"/>
                </a:solidFill>
                <a:latin typeface="Aptos"/>
              </a:rPr>
              <a:t>MARX, Karl; ENGELS, Friedrich. Manifesto do Partido Comunista. 1848.</a:t>
            </a:r>
          </a:p>
        </p:txBody>
      </p:sp>
      <p:sp>
        <p:nvSpPr>
          <p:cNvPr id="9" name="Oval 8"/>
          <p:cNvSpPr/>
          <p:nvPr/>
        </p:nvSpPr>
        <p:spPr>
          <a:xfrm>
            <a:off x="786384" y="2788920"/>
            <a:ext cx="146304" cy="146304"/>
          </a:xfrm>
          <a:prstGeom prst="ellipse">
            <a:avLst/>
          </a:prstGeom>
          <a:solidFill>
            <a:srgbClr val="D7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2715768"/>
            <a:ext cx="99669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900" b="0" i="0">
                <a:solidFill>
                  <a:srgbClr val="223033"/>
                </a:solidFill>
                <a:latin typeface="Aptos"/>
              </a:rPr>
              <a:t>MARX, Karl. O Capital: crítica da economia política. Livro I. 1867.</a:t>
            </a:r>
          </a:p>
        </p:txBody>
      </p:sp>
      <p:sp>
        <p:nvSpPr>
          <p:cNvPr id="11" name="Oval 10"/>
          <p:cNvSpPr/>
          <p:nvPr/>
        </p:nvSpPr>
        <p:spPr>
          <a:xfrm>
            <a:off x="786384" y="3721607"/>
            <a:ext cx="146304" cy="146304"/>
          </a:xfrm>
          <a:prstGeom prst="ellipse">
            <a:avLst/>
          </a:prstGeom>
          <a:solidFill>
            <a:srgbClr val="D7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3648456"/>
            <a:ext cx="99669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900" b="0" i="0">
                <a:solidFill>
                  <a:srgbClr val="223033"/>
                </a:solidFill>
                <a:latin typeface="Aptos"/>
              </a:rPr>
              <a:t>MARX, Karl; ENGELS, Friedrich. A Ideologia Alemã. Escrita entre 1845 e 1846.</a:t>
            </a:r>
          </a:p>
        </p:txBody>
      </p:sp>
      <p:sp>
        <p:nvSpPr>
          <p:cNvPr id="13" name="Oval 12"/>
          <p:cNvSpPr/>
          <p:nvPr/>
        </p:nvSpPr>
        <p:spPr>
          <a:xfrm>
            <a:off x="786384" y="4654296"/>
            <a:ext cx="146304" cy="146304"/>
          </a:xfrm>
          <a:prstGeom prst="ellipse">
            <a:avLst/>
          </a:prstGeom>
          <a:solidFill>
            <a:srgbClr val="D7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4581144"/>
            <a:ext cx="99669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900" b="0" i="0">
                <a:solidFill>
                  <a:srgbClr val="223033"/>
                </a:solidFill>
                <a:latin typeface="Aptos"/>
              </a:rPr>
              <a:t>MARX, Karl. Manuscritos Econômico-Filosóficos de 1844.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5285232"/>
            <a:ext cx="10744200" cy="658368"/>
          </a:xfrm>
          <a:prstGeom prst="roundRect">
            <a:avLst/>
          </a:prstGeom>
          <a:solidFill>
            <a:srgbClr val="186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413248"/>
            <a:ext cx="1028700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Na versão final, complete com os dados da edição consultada.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